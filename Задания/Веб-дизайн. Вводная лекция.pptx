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7" r:id="rId17"/>
    <p:sldId id="271" r:id="rId18"/>
    <p:sldId id="272" r:id="rId19"/>
    <p:sldId id="273" r:id="rId20"/>
    <p:sldId id="274" r:id="rId21"/>
    <p:sldId id="275" r:id="rId22"/>
    <p:sldId id="276" r:id="rId23"/>
    <p:sldId id="278" r:id="rId24"/>
    <p:sldId id="279" r:id="rId25"/>
    <p:sldId id="280" r:id="rId26"/>
    <p:sldId id="281" r:id="rId27"/>
    <p:sldId id="282" r:id="rId28"/>
    <p:sldId id="283" r:id="rId2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3" d="100"/>
          <a:sy n="83" d="100"/>
        </p:scale>
        <p:origin x="19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ru-RU"/>
              <a:t>Образец заголовка</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95D5DD78-F600-4D32-A9AA-CC9811C69F6B}" type="datetimeFigureOut">
              <a:rPr lang="ru-RU" smtClean="0"/>
              <a:t>08.02.2021</a:t>
            </a:fld>
            <a:endParaRPr lang="ru-RU"/>
          </a:p>
        </p:txBody>
      </p:sp>
      <p:sp>
        <p:nvSpPr>
          <p:cNvPr id="5" name="Footer Placeholder 4"/>
          <p:cNvSpPr>
            <a:spLocks noGrp="1"/>
          </p:cNvSpPr>
          <p:nvPr>
            <p:ph type="ftr" sz="quarter" idx="11"/>
          </p:nvPr>
        </p:nvSpPr>
        <p:spPr>
          <a:xfrm>
            <a:off x="5332412" y="5883275"/>
            <a:ext cx="4324044" cy="365125"/>
          </a:xfrm>
        </p:spPr>
        <p:txBody>
          <a:bodyPr/>
          <a:lstStyle/>
          <a:p>
            <a:endParaRPr lang="ru-RU"/>
          </a:p>
        </p:txBody>
      </p:sp>
      <p:sp>
        <p:nvSpPr>
          <p:cNvPr id="6" name="Slide Number Placeholder 5"/>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2951048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5D5DD78-F600-4D32-A9AA-CC9811C69F6B}" type="datetimeFigureOut">
              <a:rPr lang="ru-RU" smtClean="0"/>
              <a:t>08.02.2021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a:xfrm>
            <a:off x="10951856" y="5867131"/>
            <a:ext cx="551167" cy="365125"/>
          </a:xfrm>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1481549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5D5DD78-F600-4D32-A9AA-CC9811C69F6B}" type="datetimeFigureOut">
              <a:rPr lang="ru-RU" smtClean="0"/>
              <a:t>08.02.2021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4138766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95D5DD78-F600-4D32-A9AA-CC9811C69F6B}" type="datetimeFigureOut">
              <a:rPr lang="ru-RU" smtClean="0"/>
              <a:t>08.02.2021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882625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95D5DD78-F600-4D32-A9AA-CC9811C69F6B}" type="datetimeFigureOut">
              <a:rPr lang="ru-RU" smtClean="0"/>
              <a:t>08.02.2021</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139316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95D5DD78-F600-4D32-A9AA-CC9811C69F6B}" type="datetimeFigureOut">
              <a:rPr lang="ru-RU" smtClean="0"/>
              <a:t>08.02.2021</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2554221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D5DD78-F600-4D32-A9AA-CC9811C69F6B}" type="datetimeFigureOut">
              <a:rPr lang="ru-RU" smtClean="0"/>
              <a:t>08.02.2021</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1568194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ru-RU"/>
              <a:t>Образец заголовка</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95D5DD78-F600-4D32-A9AA-CC9811C69F6B}" type="datetimeFigureOut">
              <a:rPr lang="ru-RU" smtClean="0"/>
              <a:t>08.02.2021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3013137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ru-RU"/>
              <a:t>Образец заголовка</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95D5DD78-F600-4D32-A9AA-CC9811C69F6B}" type="datetimeFigureOut">
              <a:rPr lang="ru-RU" smtClean="0"/>
              <a:t>08.02.2021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2422017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95D5DD78-F600-4D32-A9AA-CC9811C69F6B}" type="datetimeFigureOut">
              <a:rPr lang="ru-RU" smtClean="0"/>
              <a:t>08.02.2021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3823711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ru-RU"/>
              <a:t>Образец заголовка</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5D5DD78-F600-4D32-A9AA-CC9811C69F6B}" type="datetimeFigureOut">
              <a:rPr lang="ru-RU" smtClean="0"/>
              <a:t>08.02.2021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29977447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ru-RU"/>
              <a:t>Образец заголовка</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5D5DD78-F600-4D32-A9AA-CC9811C69F6B}" type="datetimeFigureOut">
              <a:rPr lang="ru-RU" smtClean="0"/>
              <a:t>08.02.2021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27255733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ru-RU"/>
              <a:t>Образец заголовка</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5D5DD78-F600-4D32-A9AA-CC9811C69F6B}" type="datetimeFigureOut">
              <a:rPr lang="ru-RU" smtClean="0"/>
              <a:t>08.02.2021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3696461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ru-RU"/>
              <a:t>Образец заголовка</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ru-RU"/>
              <a:t>Образец текста</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5D5DD78-F600-4D32-A9AA-CC9811C69F6B}" type="datetimeFigureOut">
              <a:rPr lang="ru-RU" smtClean="0"/>
              <a:t>08.02.2021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10279777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ru-RU"/>
              <a:t>Образец заголовка</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ru-RU"/>
              <a:t>Образец текста</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5D5DD78-F600-4D32-A9AA-CC9811C69F6B}" type="datetimeFigureOut">
              <a:rPr lang="ru-RU" smtClean="0"/>
              <a:t>08.02.2021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24118203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5D5DD78-F600-4D32-A9AA-CC9811C69F6B}" type="datetimeFigureOut">
              <a:rPr lang="ru-RU" smtClean="0"/>
              <a:t>08.02.2021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2195192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5D5DD78-F600-4D32-A9AA-CC9811C69F6B}" type="datetimeFigureOut">
              <a:rPr lang="ru-RU" smtClean="0"/>
              <a:t>08.02.2021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C655BCE-DD01-4860-AF45-352AE9A795B8}" type="slidenum">
              <a:rPr lang="ru-RU" smtClean="0"/>
              <a:t>‹#›</a:t>
            </a:fld>
            <a:endParaRPr lang="ru-RU"/>
          </a:p>
        </p:txBody>
      </p:sp>
    </p:spTree>
    <p:extLst>
      <p:ext uri="{BB962C8B-B14F-4D97-AF65-F5344CB8AC3E}">
        <p14:creationId xmlns:p14="http://schemas.microsoft.com/office/powerpoint/2010/main" val="815167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5D5DD78-F600-4D32-A9AA-CC9811C69F6B}" type="datetimeFigureOut">
              <a:rPr lang="ru-RU" smtClean="0"/>
              <a:t>08.02.2021</a:t>
            </a:fld>
            <a:endParaRPr lang="ru-RU"/>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ru-RU"/>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C655BCE-DD01-4860-AF45-352AE9A795B8}" type="slidenum">
              <a:rPr lang="ru-RU" smtClean="0"/>
              <a:t>‹#›</a:t>
            </a:fld>
            <a:endParaRPr lang="ru-RU"/>
          </a:p>
        </p:txBody>
      </p:sp>
    </p:spTree>
    <p:extLst>
      <p:ext uri="{BB962C8B-B14F-4D97-AF65-F5344CB8AC3E}">
        <p14:creationId xmlns:p14="http://schemas.microsoft.com/office/powerpoint/2010/main" val="428671766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b="1" cap="all" dirty="0">
                <a:solidFill>
                  <a:srgbClr val="0070C0"/>
                </a:solidFill>
              </a:rPr>
              <a:t>Веб-дизайн</a:t>
            </a:r>
          </a:p>
        </p:txBody>
      </p:sp>
      <p:sp>
        <p:nvSpPr>
          <p:cNvPr id="3" name="Подзаголовок 2"/>
          <p:cNvSpPr>
            <a:spLocks noGrp="1"/>
          </p:cNvSpPr>
          <p:nvPr>
            <p:ph type="subTitle" idx="1"/>
          </p:nvPr>
        </p:nvSpPr>
        <p:spPr/>
        <p:txBody>
          <a:bodyPr/>
          <a:lstStyle/>
          <a:p>
            <a:endParaRPr lang="ru-RU" dirty="0"/>
          </a:p>
        </p:txBody>
      </p:sp>
    </p:spTree>
    <p:extLst>
      <p:ext uri="{BB962C8B-B14F-4D97-AF65-F5344CB8AC3E}">
        <p14:creationId xmlns:p14="http://schemas.microsoft.com/office/powerpoint/2010/main" val="4181999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84309" y="0"/>
            <a:ext cx="10018713" cy="1752599"/>
          </a:xfrm>
        </p:spPr>
        <p:txBody>
          <a:bodyPr>
            <a:normAutofit/>
          </a:bodyPr>
          <a:lstStyle/>
          <a:p>
            <a:r>
              <a:rPr lang="ru-RU" dirty="0">
                <a:solidFill>
                  <a:srgbClr val="002060"/>
                </a:solidFill>
              </a:rPr>
              <a:t>Как люди получают доступ к всемирной паутине</a:t>
            </a:r>
          </a:p>
        </p:txBody>
      </p:sp>
      <p:sp>
        <p:nvSpPr>
          <p:cNvPr id="3" name="Объект 2"/>
          <p:cNvSpPr>
            <a:spLocks noGrp="1"/>
          </p:cNvSpPr>
          <p:nvPr>
            <p:ph idx="1"/>
          </p:nvPr>
        </p:nvSpPr>
        <p:spPr>
          <a:xfrm>
            <a:off x="1484309" y="1641765"/>
            <a:ext cx="10018713" cy="4305300"/>
          </a:xfrm>
        </p:spPr>
        <p:txBody>
          <a:bodyPr>
            <a:normAutofit fontScale="92500" lnSpcReduction="10000"/>
          </a:bodyPr>
          <a:lstStyle/>
          <a:p>
            <a:pPr algn="just"/>
            <a:r>
              <a:rPr lang="ru-RU" dirty="0">
                <a:solidFill>
                  <a:srgbClr val="002060"/>
                </a:solidFill>
              </a:rPr>
              <a:t>Для доступа к сайтам пользователи используют специальные программы, называемые веб-браузерами. </a:t>
            </a:r>
          </a:p>
          <a:p>
            <a:pPr algn="just"/>
            <a:r>
              <a:rPr lang="ru-RU" dirty="0">
                <a:solidFill>
                  <a:srgbClr val="002060"/>
                </a:solidFill>
              </a:rPr>
              <a:t>Среди наиболее популярных браузеров можно назвать </a:t>
            </a:r>
            <a:r>
              <a:rPr lang="ru-RU" b="1" dirty="0" err="1">
                <a:solidFill>
                  <a:srgbClr val="002060"/>
                </a:solidFill>
              </a:rPr>
              <a:t>Firefox</a:t>
            </a:r>
            <a:r>
              <a:rPr lang="ru-RU" b="1" dirty="0">
                <a:solidFill>
                  <a:srgbClr val="002060"/>
                </a:solidFill>
              </a:rPr>
              <a:t>, l</a:t>
            </a:r>
            <a:r>
              <a:rPr lang="en-US" b="1" dirty="0">
                <a:solidFill>
                  <a:srgbClr val="002060"/>
                </a:solidFill>
              </a:rPr>
              <a:t>n</a:t>
            </a:r>
            <a:r>
              <a:rPr lang="ru-RU" b="1" dirty="0" err="1">
                <a:solidFill>
                  <a:srgbClr val="002060"/>
                </a:solidFill>
              </a:rPr>
              <a:t>ter</a:t>
            </a:r>
            <a:r>
              <a:rPr lang="en-US" b="1" dirty="0">
                <a:solidFill>
                  <a:srgbClr val="002060"/>
                </a:solidFill>
              </a:rPr>
              <a:t>n</a:t>
            </a:r>
            <a:r>
              <a:rPr lang="ru-RU" b="1" dirty="0" err="1">
                <a:solidFill>
                  <a:srgbClr val="002060"/>
                </a:solidFill>
              </a:rPr>
              <a:t>et</a:t>
            </a:r>
            <a:r>
              <a:rPr lang="ru-RU" b="1" dirty="0">
                <a:solidFill>
                  <a:srgbClr val="002060"/>
                </a:solidFill>
              </a:rPr>
              <a:t> </a:t>
            </a:r>
            <a:r>
              <a:rPr lang="ru-RU" b="1" dirty="0" err="1">
                <a:solidFill>
                  <a:srgbClr val="002060"/>
                </a:solidFill>
              </a:rPr>
              <a:t>Explorer</a:t>
            </a:r>
            <a:r>
              <a:rPr lang="ru-RU" b="1" dirty="0">
                <a:solidFill>
                  <a:srgbClr val="002060"/>
                </a:solidFill>
              </a:rPr>
              <a:t>, </a:t>
            </a:r>
            <a:r>
              <a:rPr lang="ru-RU" b="1" dirty="0" err="1">
                <a:solidFill>
                  <a:srgbClr val="002060"/>
                </a:solidFill>
              </a:rPr>
              <a:t>Safari</a:t>
            </a:r>
            <a:r>
              <a:rPr lang="ru-RU" b="1" dirty="0">
                <a:solidFill>
                  <a:srgbClr val="002060"/>
                </a:solidFill>
              </a:rPr>
              <a:t>, </a:t>
            </a:r>
            <a:r>
              <a:rPr lang="ru-RU" b="1" dirty="0" err="1">
                <a:solidFill>
                  <a:srgbClr val="002060"/>
                </a:solidFill>
              </a:rPr>
              <a:t>Chrome</a:t>
            </a:r>
            <a:r>
              <a:rPr lang="ru-RU" b="1" dirty="0">
                <a:solidFill>
                  <a:srgbClr val="002060"/>
                </a:solidFill>
              </a:rPr>
              <a:t> и </a:t>
            </a:r>
            <a:r>
              <a:rPr lang="ru-RU" b="1" dirty="0" err="1">
                <a:solidFill>
                  <a:srgbClr val="002060"/>
                </a:solidFill>
              </a:rPr>
              <a:t>Opera</a:t>
            </a:r>
            <a:r>
              <a:rPr lang="ru-RU" b="1" dirty="0">
                <a:solidFill>
                  <a:srgbClr val="002060"/>
                </a:solidFill>
              </a:rPr>
              <a:t>. </a:t>
            </a:r>
          </a:p>
          <a:p>
            <a:pPr algn="just"/>
            <a:r>
              <a:rPr lang="ru-RU" dirty="0">
                <a:solidFill>
                  <a:srgbClr val="002060"/>
                </a:solidFill>
              </a:rPr>
              <a:t>Чтобы просмотреть какую-либо страницу, пользователи могут ввести ее адрес в специальное поле браузера, перейти по ссылке, размещенной на другом сайте, либо воспользоваться закладкой в разделе «Избранное». Производители программного обеспечения регулярно выпускают свежие версии браузеров с новыми функциями и поддержкой новых языковых дополнений. Однако важно помнить, что очень многие пользователи не обновляют версии браузеров. Поэтому нельзя полагаться на то, что абсолютно все посетители вашего сайта смогут воспользоваться новейшими функциями, реализованными только в последних версиях программ. </a:t>
            </a:r>
          </a:p>
        </p:txBody>
      </p:sp>
    </p:spTree>
    <p:extLst>
      <p:ext uri="{BB962C8B-B14F-4D97-AF65-F5344CB8AC3E}">
        <p14:creationId xmlns:p14="http://schemas.microsoft.com/office/powerpoint/2010/main" val="4032812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84309" y="114300"/>
            <a:ext cx="10018713" cy="1752599"/>
          </a:xfrm>
        </p:spPr>
        <p:txBody>
          <a:bodyPr>
            <a:normAutofit/>
          </a:bodyPr>
          <a:lstStyle/>
          <a:p>
            <a:r>
              <a:rPr lang="ru-RU" dirty="0">
                <a:solidFill>
                  <a:srgbClr val="002060"/>
                </a:solidFill>
              </a:rPr>
              <a:t>Как люди получают доступ к всемирной паутине</a:t>
            </a:r>
          </a:p>
        </p:txBody>
      </p:sp>
      <p:sp>
        <p:nvSpPr>
          <p:cNvPr id="3" name="Объект 2"/>
          <p:cNvSpPr>
            <a:spLocks noGrp="1"/>
          </p:cNvSpPr>
          <p:nvPr>
            <p:ph idx="1"/>
          </p:nvPr>
        </p:nvSpPr>
        <p:spPr>
          <a:xfrm>
            <a:off x="1484309" y="1866899"/>
            <a:ext cx="10298982" cy="3124201"/>
          </a:xfrm>
        </p:spPr>
        <p:txBody>
          <a:bodyPr>
            <a:normAutofit fontScale="92500" lnSpcReduction="20000"/>
          </a:bodyPr>
          <a:lstStyle/>
          <a:p>
            <a:r>
              <a:rPr lang="ru-RU" dirty="0">
                <a:solidFill>
                  <a:srgbClr val="002060"/>
                </a:solidFill>
              </a:rPr>
              <a:t>Когда вы отдаете команду браузеру открыть тот или иной сайт, тот с помощью Интернета посылает запрос специальному компьютеру, называемому </a:t>
            </a:r>
            <a:r>
              <a:rPr lang="ru-RU" dirty="0">
                <a:solidFill>
                  <a:srgbClr val="FF0000"/>
                </a:solidFill>
              </a:rPr>
              <a:t>веб-сервером</a:t>
            </a:r>
            <a:r>
              <a:rPr lang="ru-RU" dirty="0">
                <a:solidFill>
                  <a:srgbClr val="002060"/>
                </a:solidFill>
              </a:rPr>
              <a:t>, на котором расположены файлы нужного вам сайта. </a:t>
            </a:r>
          </a:p>
          <a:p>
            <a:r>
              <a:rPr lang="ru-RU" i="1" dirty="0">
                <a:solidFill>
                  <a:srgbClr val="002060"/>
                </a:solidFill>
              </a:rPr>
              <a:t>Веб-серверы -это специальные компьютеры, постоянно подключенные к Интернету, работа которых оптимизирована для отправки веб-страниц запрашивающим их людям.</a:t>
            </a:r>
            <a:r>
              <a:rPr lang="ru-RU" dirty="0">
                <a:solidFill>
                  <a:srgbClr val="002060"/>
                </a:solidFill>
              </a:rPr>
              <a:t> </a:t>
            </a:r>
          </a:p>
          <a:p>
            <a:r>
              <a:rPr lang="ru-RU" dirty="0">
                <a:solidFill>
                  <a:srgbClr val="002060"/>
                </a:solidFill>
              </a:rPr>
              <a:t>Некоторые крупные компании используют собственные веб-серверы, но гораздо чаще владельцы сайтов пользуются услугами </a:t>
            </a:r>
            <a:r>
              <a:rPr lang="ru-RU" dirty="0" err="1">
                <a:solidFill>
                  <a:srgbClr val="FF0000"/>
                </a:solidFill>
              </a:rPr>
              <a:t>хостинговых</a:t>
            </a:r>
            <a:r>
              <a:rPr lang="ru-RU" dirty="0">
                <a:solidFill>
                  <a:srgbClr val="FF0000"/>
                </a:solidFill>
              </a:rPr>
              <a:t> компаний</a:t>
            </a:r>
            <a:r>
              <a:rPr lang="ru-RU" dirty="0">
                <a:solidFill>
                  <a:srgbClr val="002060"/>
                </a:solidFill>
              </a:rPr>
              <a:t>, которые берут определенную (чаще ежегодную) плату за возможность размещения сайта у них на сервере</a:t>
            </a:r>
            <a:r>
              <a:rPr lang="ru-RU" dirty="0"/>
              <a:t>. </a:t>
            </a:r>
          </a:p>
        </p:txBody>
      </p:sp>
    </p:spTree>
    <p:extLst>
      <p:ext uri="{BB962C8B-B14F-4D97-AF65-F5344CB8AC3E}">
        <p14:creationId xmlns:p14="http://schemas.microsoft.com/office/powerpoint/2010/main" val="1004193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solidFill>
                  <a:srgbClr val="002060"/>
                </a:solidFill>
              </a:rPr>
              <a:t>Как люди получают доступ к всемирной паутине</a:t>
            </a:r>
          </a:p>
        </p:txBody>
      </p:sp>
      <p:sp>
        <p:nvSpPr>
          <p:cNvPr id="3" name="Объект 2"/>
          <p:cNvSpPr>
            <a:spLocks noGrp="1"/>
          </p:cNvSpPr>
          <p:nvPr>
            <p:ph idx="1"/>
          </p:nvPr>
        </p:nvSpPr>
        <p:spPr>
          <a:xfrm>
            <a:off x="1484310" y="1762990"/>
            <a:ext cx="10018713" cy="3124201"/>
          </a:xfrm>
        </p:spPr>
        <p:txBody>
          <a:bodyPr/>
          <a:lstStyle/>
          <a:p>
            <a:r>
              <a:rPr lang="ru-RU" dirty="0">
                <a:solidFill>
                  <a:srgbClr val="002060"/>
                </a:solidFill>
              </a:rPr>
              <a:t>Разновидностей устройств, с помощью которых люди посещают сайты - настольных компьютеров, ноутбуков, планшетов, мобильных телефонов, - становится все больше и больше. Важно помнить, что разные устройства имеют различные размеры экрана и что скорость подключения к Интернету одних выше, чем у других. </a:t>
            </a:r>
          </a:p>
        </p:txBody>
      </p:sp>
    </p:spTree>
    <p:extLst>
      <p:ext uri="{BB962C8B-B14F-4D97-AF65-F5344CB8AC3E}">
        <p14:creationId xmlns:p14="http://schemas.microsoft.com/office/powerpoint/2010/main" val="439789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84310" y="197427"/>
            <a:ext cx="10018713" cy="1752599"/>
          </a:xfrm>
        </p:spPr>
        <p:txBody>
          <a:bodyPr>
            <a:normAutofit/>
          </a:bodyPr>
          <a:lstStyle/>
          <a:p>
            <a:r>
              <a:rPr lang="ru-RU" dirty="0">
                <a:solidFill>
                  <a:srgbClr val="002060"/>
                </a:solidFill>
              </a:rPr>
              <a:t>Как люди получают доступ к всемирной паутине</a:t>
            </a:r>
          </a:p>
        </p:txBody>
      </p:sp>
      <p:sp>
        <p:nvSpPr>
          <p:cNvPr id="3" name="Объект 2"/>
          <p:cNvSpPr>
            <a:spLocks noGrp="1"/>
          </p:cNvSpPr>
          <p:nvPr>
            <p:ph idx="1"/>
          </p:nvPr>
        </p:nvSpPr>
        <p:spPr>
          <a:xfrm>
            <a:off x="1484309" y="1950026"/>
            <a:ext cx="10018713" cy="4378038"/>
          </a:xfrm>
        </p:spPr>
        <p:txBody>
          <a:bodyPr>
            <a:normAutofit lnSpcReduction="10000"/>
          </a:bodyPr>
          <a:lstStyle/>
          <a:p>
            <a:r>
              <a:rPr lang="ru-RU" dirty="0">
                <a:solidFill>
                  <a:srgbClr val="002060"/>
                </a:solidFill>
              </a:rPr>
              <a:t>Программы экранного доступа* -это специальное ПО, которое читает вслух текст с экрана компьютера. Обычно они используются людьми с нарушением зрения. Аналогично существующим во многих странах законам, обязывающим общественные заведения быть доступными для инвалидов, в настоящее время принимаются акты, предписывающие создавать сайты, удобные для использования в том числе и людьми с ограничениями. </a:t>
            </a:r>
          </a:p>
          <a:p>
            <a:r>
              <a:rPr lang="ru-RU" dirty="0">
                <a:solidFill>
                  <a:srgbClr val="002060"/>
                </a:solidFill>
              </a:rPr>
              <a:t>Интересно отметить тот факт, что технологии наподобие используемых при разработке программ экранного доступа также применяются в различных сферах деятельности, когда люди оказываются неспособными прочитать текст самостоятельно, например, при вождении машины или занятиях бегом. </a:t>
            </a:r>
          </a:p>
        </p:txBody>
      </p:sp>
    </p:spTree>
    <p:extLst>
      <p:ext uri="{BB962C8B-B14F-4D97-AF65-F5344CB8AC3E}">
        <p14:creationId xmlns:p14="http://schemas.microsoft.com/office/powerpoint/2010/main" val="300411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84309" y="103909"/>
            <a:ext cx="10018713" cy="1752599"/>
          </a:xfrm>
        </p:spPr>
        <p:txBody>
          <a:bodyPr/>
          <a:lstStyle/>
          <a:p>
            <a:r>
              <a:rPr lang="ru-RU" dirty="0">
                <a:solidFill>
                  <a:srgbClr val="002060"/>
                </a:solidFill>
              </a:rPr>
              <a:t>КАК СОЗДАЮТСЯ САЙТЫ</a:t>
            </a:r>
          </a:p>
        </p:txBody>
      </p:sp>
      <p:sp>
        <p:nvSpPr>
          <p:cNvPr id="3" name="Объект 2"/>
          <p:cNvSpPr>
            <a:spLocks noGrp="1"/>
          </p:cNvSpPr>
          <p:nvPr>
            <p:ph idx="1"/>
          </p:nvPr>
        </p:nvSpPr>
        <p:spPr>
          <a:xfrm>
            <a:off x="1484310" y="1226127"/>
            <a:ext cx="10018713" cy="4565073"/>
          </a:xfrm>
        </p:spPr>
        <p:txBody>
          <a:bodyPr>
            <a:normAutofit fontScale="92500"/>
          </a:bodyPr>
          <a:lstStyle/>
          <a:p>
            <a:r>
              <a:rPr lang="ru-RU" dirty="0">
                <a:solidFill>
                  <a:srgbClr val="002060"/>
                </a:solidFill>
              </a:rPr>
              <a:t>Языки </a:t>
            </a:r>
            <a:r>
              <a:rPr lang="ru-RU" dirty="0">
                <a:solidFill>
                  <a:srgbClr val="FF0000"/>
                </a:solidFill>
              </a:rPr>
              <a:t>HTML и CSS </a:t>
            </a:r>
            <a:r>
              <a:rPr lang="ru-RU" dirty="0">
                <a:solidFill>
                  <a:srgbClr val="002060"/>
                </a:solidFill>
              </a:rPr>
              <a:t>используются для создания любых сайтов, однако </a:t>
            </a:r>
            <a:r>
              <a:rPr lang="ru-RU" dirty="0">
                <a:solidFill>
                  <a:srgbClr val="FF0000"/>
                </a:solidFill>
              </a:rPr>
              <a:t>системы управления контентом и платформы для блогов и электронной коммерции </a:t>
            </a:r>
            <a:r>
              <a:rPr lang="ru-RU" dirty="0">
                <a:solidFill>
                  <a:srgbClr val="002060"/>
                </a:solidFill>
              </a:rPr>
              <a:t>зачастую добавляют в этот коктейль еще некоторые технологии. </a:t>
            </a:r>
          </a:p>
          <a:p>
            <a:r>
              <a:rPr lang="ru-RU" dirty="0">
                <a:solidFill>
                  <a:srgbClr val="002060"/>
                </a:solidFill>
              </a:rPr>
              <a:t>Когда вы просматриваете веб-страницу, ваш браузер, скорее всего, получает НТМL и СSS-код с сервера, на котором расположен данный сайт. Чтобы создать страницу, пригодную для просмотра, браузер интерпретирует код. </a:t>
            </a:r>
          </a:p>
          <a:p>
            <a:r>
              <a:rPr lang="ru-RU" dirty="0">
                <a:solidFill>
                  <a:srgbClr val="002060"/>
                </a:solidFill>
              </a:rPr>
              <a:t>В большинство веб-страниц обычно бывает включен дополнительный контент, например изображения, аудио- и видеоролики или анимация.</a:t>
            </a:r>
          </a:p>
          <a:p>
            <a:r>
              <a:rPr lang="ru-RU" dirty="0">
                <a:solidFill>
                  <a:srgbClr val="002060"/>
                </a:solidFill>
              </a:rPr>
              <a:t> Некоторые страницы также посылают вашему браузеру код </a:t>
            </a:r>
            <a:r>
              <a:rPr lang="ru-RU" dirty="0" err="1">
                <a:solidFill>
                  <a:srgbClr val="FF0000"/>
                </a:solidFill>
              </a:rPr>
              <a:t>JavaScript</a:t>
            </a:r>
            <a:r>
              <a:rPr lang="ru-RU" dirty="0">
                <a:solidFill>
                  <a:srgbClr val="FF0000"/>
                </a:solidFill>
              </a:rPr>
              <a:t> и </a:t>
            </a:r>
            <a:r>
              <a:rPr lang="ru-RU" dirty="0" err="1">
                <a:solidFill>
                  <a:srgbClr val="FF0000"/>
                </a:solidFill>
              </a:rPr>
              <a:t>Flash</a:t>
            </a:r>
            <a:r>
              <a:rPr lang="ru-RU" dirty="0">
                <a:solidFill>
                  <a:srgbClr val="002060"/>
                </a:solidFill>
              </a:rPr>
              <a:t> - и вы в дальнейшем узнаете, как добавлять подобные интерактивные объекты на свой сайт. </a:t>
            </a:r>
          </a:p>
        </p:txBody>
      </p:sp>
    </p:spTree>
    <p:extLst>
      <p:ext uri="{BB962C8B-B14F-4D97-AF65-F5344CB8AC3E}">
        <p14:creationId xmlns:p14="http://schemas.microsoft.com/office/powerpoint/2010/main" val="3575564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84311" y="685801"/>
            <a:ext cx="10018713" cy="758536"/>
          </a:xfrm>
        </p:spPr>
        <p:txBody>
          <a:bodyPr/>
          <a:lstStyle/>
          <a:p>
            <a:r>
              <a:rPr lang="ru-RU" dirty="0">
                <a:solidFill>
                  <a:srgbClr val="002060"/>
                </a:solidFill>
              </a:rPr>
              <a:t>КАК СОЗДАЮТСЯ САЙТЫ</a:t>
            </a:r>
            <a:endParaRPr lang="ru-RU" dirty="0"/>
          </a:p>
        </p:txBody>
      </p:sp>
      <p:sp>
        <p:nvSpPr>
          <p:cNvPr id="3" name="Объект 2"/>
          <p:cNvSpPr>
            <a:spLocks noGrp="1"/>
          </p:cNvSpPr>
          <p:nvPr>
            <p:ph idx="1"/>
          </p:nvPr>
        </p:nvSpPr>
        <p:spPr>
          <a:xfrm>
            <a:off x="1484310" y="1309255"/>
            <a:ext cx="10018713" cy="4481945"/>
          </a:xfrm>
        </p:spPr>
        <p:txBody>
          <a:bodyPr>
            <a:normAutofit fontScale="92500" lnSpcReduction="20000"/>
          </a:bodyPr>
          <a:lstStyle/>
          <a:p>
            <a:r>
              <a:rPr lang="ru-RU" dirty="0">
                <a:solidFill>
                  <a:srgbClr val="002060"/>
                </a:solidFill>
              </a:rPr>
              <a:t>Небольшие сайты обычно верстаются только на </a:t>
            </a:r>
            <a:r>
              <a:rPr lang="ru-RU" dirty="0">
                <a:solidFill>
                  <a:srgbClr val="FF0000"/>
                </a:solidFill>
              </a:rPr>
              <a:t>HTML и CSS</a:t>
            </a:r>
            <a:r>
              <a:rPr lang="ru-RU" dirty="0">
                <a:solidFill>
                  <a:srgbClr val="002060"/>
                </a:solidFill>
              </a:rPr>
              <a:t>. Более крупные сайты, в частности те, что подвергаются регулярному обновлению и используют системы управления контентом*, а также платформы для блогов и электронной коммерции, зачастую создаются с применением более сложных технологий, функционирующих на стороне веб-сервера. </a:t>
            </a:r>
          </a:p>
          <a:p>
            <a:r>
              <a:rPr lang="ru-RU" dirty="0">
                <a:solidFill>
                  <a:srgbClr val="002060"/>
                </a:solidFill>
              </a:rPr>
              <a:t>Однако на самом деле все эти технологии используются для создания необходимого НТМL и СSS-кода, впоследствии посылаемого браузеру. Потому, если имеющийся у вас сайт использует эти технологии, вы сможете применить новые знания по HTML и CSS, чтобы получить куда больший контроль над его оформлением. При создании более крупных, сложных сайтов часто используются базы данных для хранения информации и различные языки программирования, такие как </a:t>
            </a:r>
            <a:r>
              <a:rPr lang="ru-RU" dirty="0">
                <a:solidFill>
                  <a:srgbClr val="FF0000"/>
                </a:solidFill>
              </a:rPr>
              <a:t>РНР, </a:t>
            </a:r>
            <a:r>
              <a:rPr lang="ru-RU" dirty="0" err="1">
                <a:solidFill>
                  <a:srgbClr val="FF0000"/>
                </a:solidFill>
              </a:rPr>
              <a:t>ASP.Net</a:t>
            </a:r>
            <a:r>
              <a:rPr lang="ru-RU" dirty="0">
                <a:solidFill>
                  <a:srgbClr val="FF0000"/>
                </a:solidFill>
              </a:rPr>
              <a:t>, </a:t>
            </a:r>
            <a:r>
              <a:rPr lang="ru-RU" dirty="0" err="1">
                <a:solidFill>
                  <a:srgbClr val="FF0000"/>
                </a:solidFill>
              </a:rPr>
              <a:t>Java</a:t>
            </a:r>
            <a:r>
              <a:rPr lang="ru-RU" dirty="0">
                <a:solidFill>
                  <a:srgbClr val="FF0000"/>
                </a:solidFill>
              </a:rPr>
              <a:t> или </a:t>
            </a:r>
            <a:r>
              <a:rPr lang="ru-RU" dirty="0" err="1">
                <a:solidFill>
                  <a:srgbClr val="FF0000"/>
                </a:solidFill>
              </a:rPr>
              <a:t>Ruby</a:t>
            </a:r>
            <a:r>
              <a:rPr lang="ru-RU" dirty="0">
                <a:solidFill>
                  <a:srgbClr val="FF0000"/>
                </a:solidFill>
              </a:rPr>
              <a:t>, </a:t>
            </a:r>
            <a:r>
              <a:rPr lang="ru-RU" dirty="0">
                <a:solidFill>
                  <a:srgbClr val="002060"/>
                </a:solidFill>
              </a:rPr>
              <a:t>работающие на сервере, но, чтобы управлять внешним видом вашего сайта, вам не потребуется знание этих технологий. </a:t>
            </a:r>
          </a:p>
          <a:p>
            <a:r>
              <a:rPr lang="ru-RU" dirty="0">
                <a:solidFill>
                  <a:srgbClr val="002060"/>
                </a:solidFill>
              </a:rPr>
              <a:t>*</a:t>
            </a:r>
            <a:r>
              <a:rPr lang="en-US" dirty="0">
                <a:solidFill>
                  <a:srgbClr val="002060"/>
                </a:solidFill>
              </a:rPr>
              <a:t>CMS</a:t>
            </a:r>
            <a:r>
              <a:rPr lang="ru-RU" dirty="0">
                <a:solidFill>
                  <a:srgbClr val="002060"/>
                </a:solidFill>
              </a:rPr>
              <a:t> - </a:t>
            </a:r>
            <a:r>
              <a:rPr lang="en-US" dirty="0">
                <a:solidFill>
                  <a:srgbClr val="002060"/>
                </a:solidFill>
              </a:rPr>
              <a:t> content management systems (</a:t>
            </a:r>
            <a:r>
              <a:rPr lang="ru-RU" dirty="0">
                <a:solidFill>
                  <a:srgbClr val="002060"/>
                </a:solidFill>
              </a:rPr>
              <a:t>англ.)</a:t>
            </a:r>
          </a:p>
        </p:txBody>
      </p:sp>
    </p:spTree>
    <p:extLst>
      <p:ext uri="{BB962C8B-B14F-4D97-AF65-F5344CB8AC3E}">
        <p14:creationId xmlns:p14="http://schemas.microsoft.com/office/powerpoint/2010/main" val="977676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a:xfrm>
            <a:off x="2223654" y="4374573"/>
            <a:ext cx="3002974" cy="2182091"/>
          </a:xfrm>
        </p:spPr>
        <p:txBody>
          <a:bodyPr>
            <a:normAutofit fontScale="70000" lnSpcReduction="20000"/>
          </a:bodyPr>
          <a:lstStyle/>
          <a:p>
            <a:r>
              <a:rPr lang="ru-RU" dirty="0">
                <a:solidFill>
                  <a:srgbClr val="002060"/>
                </a:solidFill>
              </a:rPr>
              <a:t>Сервер, на котором размещен посещаемый вами сайт, может находиться в любой точке мира. Чтобы определить его местоположение, ваш браузер в первую очередь подключается к </a:t>
            </a:r>
            <a:r>
              <a:rPr lang="en-US" dirty="0">
                <a:solidFill>
                  <a:srgbClr val="002060"/>
                </a:solidFill>
              </a:rPr>
              <a:t>DNS- </a:t>
            </a:r>
            <a:r>
              <a:rPr lang="ru-RU" dirty="0">
                <a:solidFill>
                  <a:srgbClr val="002060"/>
                </a:solidFill>
              </a:rPr>
              <a:t>серверу.</a:t>
            </a:r>
          </a:p>
        </p:txBody>
      </p:sp>
      <p:pic>
        <p:nvPicPr>
          <p:cNvPr id="5" name="Рисунок 4"/>
          <p:cNvPicPr>
            <a:picLocks noChangeAspect="1"/>
          </p:cNvPicPr>
          <p:nvPr/>
        </p:nvPicPr>
        <p:blipFill rotWithShape="1">
          <a:blip r:embed="rId2"/>
          <a:srcRect l="28381" t="42121" r="29091" b="23182"/>
          <a:stretch/>
        </p:blipFill>
        <p:spPr>
          <a:xfrm>
            <a:off x="2077010" y="365125"/>
            <a:ext cx="8037979" cy="3688773"/>
          </a:xfrm>
          <a:prstGeom prst="rect">
            <a:avLst/>
          </a:prstGeom>
        </p:spPr>
      </p:pic>
      <p:pic>
        <p:nvPicPr>
          <p:cNvPr id="7" name="Рисунок 6"/>
          <p:cNvPicPr>
            <a:picLocks noChangeAspect="1"/>
          </p:cNvPicPr>
          <p:nvPr/>
        </p:nvPicPr>
        <p:blipFill rotWithShape="1">
          <a:blip r:embed="rId3"/>
          <a:srcRect l="41762" t="63485" r="44261" b="9697"/>
          <a:stretch/>
        </p:blipFill>
        <p:spPr>
          <a:xfrm>
            <a:off x="6875319" y="4155286"/>
            <a:ext cx="2424546" cy="2616734"/>
          </a:xfrm>
          <a:prstGeom prst="rect">
            <a:avLst/>
          </a:prstGeom>
        </p:spPr>
      </p:pic>
    </p:spTree>
    <p:extLst>
      <p:ext uri="{BB962C8B-B14F-4D97-AF65-F5344CB8AC3E}">
        <p14:creationId xmlns:p14="http://schemas.microsoft.com/office/powerpoint/2010/main" val="2591653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dirty="0"/>
          </a:p>
        </p:txBody>
      </p:sp>
      <p:pic>
        <p:nvPicPr>
          <p:cNvPr id="4" name="Рисунок 3"/>
          <p:cNvPicPr>
            <a:picLocks noChangeAspect="1"/>
          </p:cNvPicPr>
          <p:nvPr/>
        </p:nvPicPr>
        <p:blipFill rotWithShape="1">
          <a:blip r:embed="rId2"/>
          <a:srcRect l="31449" t="13485" r="32330" b="5909"/>
          <a:stretch/>
        </p:blipFill>
        <p:spPr>
          <a:xfrm>
            <a:off x="3636816" y="166253"/>
            <a:ext cx="5185065" cy="6490481"/>
          </a:xfrm>
          <a:prstGeom prst="rect">
            <a:avLst/>
          </a:prstGeom>
        </p:spPr>
      </p:pic>
    </p:spTree>
    <p:extLst>
      <p:ext uri="{BB962C8B-B14F-4D97-AF65-F5344CB8AC3E}">
        <p14:creationId xmlns:p14="http://schemas.microsoft.com/office/powerpoint/2010/main" val="1372147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9230" y="135082"/>
            <a:ext cx="10018713" cy="924791"/>
          </a:xfrm>
        </p:spPr>
        <p:txBody>
          <a:bodyPr/>
          <a:lstStyle/>
          <a:p>
            <a:r>
              <a:rPr lang="ru-RU" dirty="0">
                <a:solidFill>
                  <a:srgbClr val="002060"/>
                </a:solidFill>
              </a:rPr>
              <a:t>СТРУКТУРА</a:t>
            </a:r>
          </a:p>
        </p:txBody>
      </p:sp>
      <p:sp>
        <p:nvSpPr>
          <p:cNvPr id="3" name="Объект 2"/>
          <p:cNvSpPr>
            <a:spLocks noGrp="1"/>
          </p:cNvSpPr>
          <p:nvPr>
            <p:ph idx="1"/>
          </p:nvPr>
        </p:nvSpPr>
        <p:spPr>
          <a:xfrm>
            <a:off x="1681737" y="942108"/>
            <a:ext cx="10018713" cy="3124201"/>
          </a:xfrm>
        </p:spPr>
        <p:txBody>
          <a:bodyPr/>
          <a:lstStyle/>
          <a:p>
            <a:r>
              <a:rPr lang="ru-RU" dirty="0">
                <a:solidFill>
                  <a:srgbClr val="002060"/>
                </a:solidFill>
              </a:rPr>
              <a:t>Понимание структуры</a:t>
            </a:r>
          </a:p>
          <a:p>
            <a:r>
              <a:rPr lang="ru-RU" dirty="0">
                <a:solidFill>
                  <a:srgbClr val="002060"/>
                </a:solidFill>
              </a:rPr>
              <a:t>Изучение принципов разметки</a:t>
            </a:r>
          </a:p>
          <a:p>
            <a:r>
              <a:rPr lang="ru-RU" dirty="0">
                <a:solidFill>
                  <a:srgbClr val="002060"/>
                </a:solidFill>
              </a:rPr>
              <a:t>Теги и элементы</a:t>
            </a:r>
          </a:p>
        </p:txBody>
      </p:sp>
    </p:spTree>
    <p:extLst>
      <p:ext uri="{BB962C8B-B14F-4D97-AF65-F5344CB8AC3E}">
        <p14:creationId xmlns:p14="http://schemas.microsoft.com/office/powerpoint/2010/main" val="1542853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484310" y="259773"/>
            <a:ext cx="10018713" cy="5105400"/>
          </a:xfrm>
        </p:spPr>
        <p:txBody>
          <a:bodyPr>
            <a:normAutofit fontScale="92500" lnSpcReduction="10000"/>
          </a:bodyPr>
          <a:lstStyle/>
          <a:p>
            <a:r>
              <a:rPr lang="ru-RU" dirty="0">
                <a:solidFill>
                  <a:srgbClr val="002060"/>
                </a:solidFill>
              </a:rPr>
              <a:t>Ежедневно мы сталкиваемся с различными типами документов. </a:t>
            </a:r>
          </a:p>
          <a:p>
            <a:r>
              <a:rPr lang="ru-RU" dirty="0">
                <a:solidFill>
                  <a:srgbClr val="002060"/>
                </a:solidFill>
              </a:rPr>
              <a:t>Газеты, заявления на выдачу паспорта, каталоги - этот список можно продолжать до бесконечности. </a:t>
            </a:r>
          </a:p>
          <a:p>
            <a:r>
              <a:rPr lang="ru-RU" dirty="0">
                <a:solidFill>
                  <a:srgbClr val="002060"/>
                </a:solidFill>
              </a:rPr>
              <a:t>Многие веб-страницы функционируют как электронные версии вышеперечисленных документов. </a:t>
            </a:r>
          </a:p>
          <a:p>
            <a:r>
              <a:rPr lang="ru-RU" dirty="0">
                <a:solidFill>
                  <a:srgbClr val="002060"/>
                </a:solidFill>
              </a:rPr>
              <a:t>Например, газеты публикуют одни и те же репортажи как на бумаге, так и на собственных сайтах; с помощью Всемирной паутины вы также можете написать заявление на получение паспорта; интернет-магазины содержат онлайн-версии каталогов и средства электронной коммерции. </a:t>
            </a:r>
          </a:p>
          <a:p>
            <a:r>
              <a:rPr lang="ru-RU" dirty="0">
                <a:solidFill>
                  <a:srgbClr val="002060"/>
                </a:solidFill>
              </a:rPr>
              <a:t>Структура важна для всех типов документов: она помогает читателям понять информацию, которую вы пытаетесь до них донести, а также способствует более простому переходу между частями документов. Таким образом, чтобы научиться создавать веб-страницы, важно понять, как правильно структурировать документы. </a:t>
            </a:r>
          </a:p>
        </p:txBody>
      </p:sp>
    </p:spTree>
    <p:extLst>
      <p:ext uri="{BB962C8B-B14F-4D97-AF65-F5344CB8AC3E}">
        <p14:creationId xmlns:p14="http://schemas.microsoft.com/office/powerpoint/2010/main" val="1321833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4" name="Рисунок 3"/>
          <p:cNvPicPr>
            <a:picLocks noChangeAspect="1"/>
          </p:cNvPicPr>
          <p:nvPr/>
        </p:nvPicPr>
        <p:blipFill rotWithShape="1">
          <a:blip r:embed="rId2"/>
          <a:srcRect l="30511" t="26818" r="32330" b="26667"/>
          <a:stretch/>
        </p:blipFill>
        <p:spPr>
          <a:xfrm>
            <a:off x="1371600" y="204832"/>
            <a:ext cx="9448800" cy="6653168"/>
          </a:xfrm>
          <a:prstGeom prst="rect">
            <a:avLst/>
          </a:prstGeom>
        </p:spPr>
      </p:pic>
    </p:spTree>
    <p:extLst>
      <p:ext uri="{BB962C8B-B14F-4D97-AF65-F5344CB8AC3E}">
        <p14:creationId xmlns:p14="http://schemas.microsoft.com/office/powerpoint/2010/main" val="148542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84311" y="685801"/>
            <a:ext cx="10018713" cy="872836"/>
          </a:xfrm>
        </p:spPr>
        <p:txBody>
          <a:bodyPr>
            <a:normAutofit/>
          </a:bodyPr>
          <a:lstStyle/>
          <a:p>
            <a:r>
              <a:rPr lang="ru-RU" dirty="0">
                <a:solidFill>
                  <a:srgbClr val="002060"/>
                </a:solidFill>
              </a:rPr>
              <a:t>ПРИМЕРЬI СТРУКТУРИЗАЦИИ СТРАНИЦ</a:t>
            </a:r>
          </a:p>
        </p:txBody>
      </p:sp>
      <p:sp>
        <p:nvSpPr>
          <p:cNvPr id="3" name="Объект 2"/>
          <p:cNvSpPr>
            <a:spLocks noGrp="1"/>
          </p:cNvSpPr>
          <p:nvPr>
            <p:ph idx="1"/>
          </p:nvPr>
        </p:nvSpPr>
        <p:spPr>
          <a:xfrm>
            <a:off x="1484310" y="1423554"/>
            <a:ext cx="10018713" cy="4471555"/>
          </a:xfrm>
        </p:spPr>
        <p:txBody>
          <a:bodyPr>
            <a:normAutofit fontScale="85000" lnSpcReduction="20000"/>
          </a:bodyPr>
          <a:lstStyle/>
          <a:p>
            <a:r>
              <a:rPr lang="ru-RU" dirty="0">
                <a:solidFill>
                  <a:srgbClr val="002060"/>
                </a:solidFill>
              </a:rPr>
              <a:t>Давайте вспомним, как выглядят статьи, публикуемые в газетах: у каждой новостной заметки есть свой заголовок, текст и зачастую одно или несколько изображений. Если перед вами длинная статья, то она может быть разделена на несколько частей подзаголовками, в ней также иногда содержатся специально выделенные врезки-цитаты. </a:t>
            </a:r>
          </a:p>
          <a:p>
            <a:r>
              <a:rPr lang="ru-RU" dirty="0">
                <a:solidFill>
                  <a:srgbClr val="002060"/>
                </a:solidFill>
              </a:rPr>
              <a:t>Если вы читаете статью во Всемирной паутине, структура ее будет лишь незначительно отличаться от той, что вы видите на бумаге (к таким публикациям, например, иногда прикрепляют какие-либо аудио- или видеофайлы). </a:t>
            </a:r>
          </a:p>
          <a:p>
            <a:r>
              <a:rPr lang="ru-RU" dirty="0">
                <a:solidFill>
                  <a:srgbClr val="002060"/>
                </a:solidFill>
              </a:rPr>
              <a:t>Взглянув на следующую страницу, вы увидите отсканированную журнальную статью и ее электронную версию, опубликованную на сайте журнала. А теперь давайте вспомним, как выглядит абсолютно иной вид документа: заявление на выдачу паспорта. Как правило, у подобных форм есть несколько разделов, каждый из которых может иметь собственный заголовок. Во всех разделах имеются поля для заполнения и вопросы к ним, а также ячейки, чтобы ставить галочки. Структура этого документа, опять же, очень похожа на электронную версию формы, опубликованную на сайте Федеральной миграционной службы. </a:t>
            </a:r>
          </a:p>
        </p:txBody>
      </p:sp>
    </p:spTree>
    <p:extLst>
      <p:ext uri="{BB962C8B-B14F-4D97-AF65-F5344CB8AC3E}">
        <p14:creationId xmlns:p14="http://schemas.microsoft.com/office/powerpoint/2010/main" val="3928462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4" name="Рисунок 3"/>
          <p:cNvPicPr>
            <a:picLocks noChangeAspect="1"/>
          </p:cNvPicPr>
          <p:nvPr/>
        </p:nvPicPr>
        <p:blipFill rotWithShape="1">
          <a:blip r:embed="rId2"/>
          <a:srcRect l="30597" t="12879" r="31818" b="4545"/>
          <a:stretch/>
        </p:blipFill>
        <p:spPr>
          <a:xfrm>
            <a:off x="3345872" y="72736"/>
            <a:ext cx="5431033" cy="6711823"/>
          </a:xfrm>
          <a:prstGeom prst="rect">
            <a:avLst/>
          </a:prstGeom>
        </p:spPr>
      </p:pic>
    </p:spTree>
    <p:extLst>
      <p:ext uri="{BB962C8B-B14F-4D97-AF65-F5344CB8AC3E}">
        <p14:creationId xmlns:p14="http://schemas.microsoft.com/office/powerpoint/2010/main" val="3327349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84309" y="72736"/>
            <a:ext cx="10018713" cy="1752599"/>
          </a:xfrm>
        </p:spPr>
        <p:txBody>
          <a:bodyPr>
            <a:normAutofit/>
          </a:bodyPr>
          <a:lstStyle/>
          <a:p>
            <a:r>
              <a:rPr lang="ru-RU" dirty="0">
                <a:solidFill>
                  <a:srgbClr val="002060"/>
                </a:solidFill>
              </a:rPr>
              <a:t>СТРУКТУРИРОВАНИЕ ДОКУМЕНТОВ MICROSOFT WORD </a:t>
            </a:r>
          </a:p>
        </p:txBody>
      </p:sp>
      <p:sp>
        <p:nvSpPr>
          <p:cNvPr id="3" name="Объект 2"/>
          <p:cNvSpPr>
            <a:spLocks noGrp="1"/>
          </p:cNvSpPr>
          <p:nvPr>
            <p:ph idx="1"/>
          </p:nvPr>
        </p:nvSpPr>
        <p:spPr>
          <a:xfrm>
            <a:off x="1484309" y="1472045"/>
            <a:ext cx="10018713" cy="4357255"/>
          </a:xfrm>
        </p:spPr>
        <p:txBody>
          <a:bodyPr>
            <a:normAutofit fontScale="77500" lnSpcReduction="20000"/>
          </a:bodyPr>
          <a:lstStyle/>
          <a:p>
            <a:r>
              <a:rPr lang="ru-RU" dirty="0">
                <a:solidFill>
                  <a:srgbClr val="002060"/>
                </a:solidFill>
              </a:rPr>
              <a:t>Использование заголовков и подзаголовков при составлении документов различных типов помогает отразить иерархию предоставляемых данных. </a:t>
            </a:r>
          </a:p>
          <a:p>
            <a:r>
              <a:rPr lang="ru-RU" dirty="0">
                <a:solidFill>
                  <a:srgbClr val="002060"/>
                </a:solidFill>
              </a:rPr>
              <a:t>Например, любой документ должен начинаться с заголовка, написанного крупным шрифтом, после которого, как правило, следует введение или резюме с наиболее важной информацией. </a:t>
            </a:r>
          </a:p>
          <a:p>
            <a:r>
              <a:rPr lang="ru-RU" dirty="0">
                <a:solidFill>
                  <a:srgbClr val="002060"/>
                </a:solidFill>
              </a:rPr>
              <a:t>Такая структура может быть расширена с помощью подзаголовков, помещаемых в тексте ниже на странице. При составлении документа с помощью текстового редактора принято разделять фрагменты текста, чтобы структурировать их. </a:t>
            </a:r>
          </a:p>
          <a:p>
            <a:r>
              <a:rPr lang="ru-RU" dirty="0">
                <a:solidFill>
                  <a:srgbClr val="002060"/>
                </a:solidFill>
              </a:rPr>
              <a:t>Каждая </a:t>
            </a:r>
            <a:r>
              <a:rPr lang="ru-RU" dirty="0" err="1">
                <a:solidFill>
                  <a:srgbClr val="002060"/>
                </a:solidFill>
              </a:rPr>
              <a:t>подтема</a:t>
            </a:r>
            <a:r>
              <a:rPr lang="ru-RU" dirty="0">
                <a:solidFill>
                  <a:srgbClr val="002060"/>
                </a:solidFill>
              </a:rPr>
              <a:t> может выделяться в отдельный абзац, кроме того, каждый подраздел также может иметь собственный заголовок, описывающий то, о чем говорится в следующем за ним тексте. На следующей странице представлен простой документ, составленный в программе </a:t>
            </a:r>
            <a:r>
              <a:rPr lang="ru-RU" dirty="0" err="1">
                <a:solidFill>
                  <a:srgbClr val="002060"/>
                </a:solidFill>
              </a:rPr>
              <a:t>Microsoft</a:t>
            </a:r>
            <a:r>
              <a:rPr lang="ru-RU" dirty="0">
                <a:solidFill>
                  <a:srgbClr val="002060"/>
                </a:solidFill>
              </a:rPr>
              <a:t> </a:t>
            </a:r>
            <a:r>
              <a:rPr lang="ru-RU" dirty="0" err="1">
                <a:solidFill>
                  <a:srgbClr val="002060"/>
                </a:solidFill>
              </a:rPr>
              <a:t>Word</a:t>
            </a:r>
            <a:r>
              <a:rPr lang="ru-RU" dirty="0">
                <a:solidFill>
                  <a:srgbClr val="002060"/>
                </a:solidFill>
              </a:rPr>
              <a:t>. В раскрывающемся списке показаны различные стили текста, которые можно применить в документе, например для создания заголовков разного уровня. Если вы часто работаете с программой </a:t>
            </a:r>
            <a:r>
              <a:rPr lang="ru-RU" dirty="0" err="1">
                <a:solidFill>
                  <a:srgbClr val="002060"/>
                </a:solidFill>
              </a:rPr>
              <a:t>Word</a:t>
            </a:r>
            <a:r>
              <a:rPr lang="ru-RU" dirty="0">
                <a:solidFill>
                  <a:srgbClr val="002060"/>
                </a:solidFill>
              </a:rPr>
              <a:t>, то вам, вероятно, уже приходилось использовать инструменты форматирования или палитру цветов для выделения заголовков и подзаголовков. </a:t>
            </a:r>
          </a:p>
        </p:txBody>
      </p:sp>
    </p:spTree>
    <p:extLst>
      <p:ext uri="{BB962C8B-B14F-4D97-AF65-F5344CB8AC3E}">
        <p14:creationId xmlns:p14="http://schemas.microsoft.com/office/powerpoint/2010/main" val="1930532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4" name="Рисунок 3"/>
          <p:cNvPicPr>
            <a:picLocks noChangeAspect="1"/>
          </p:cNvPicPr>
          <p:nvPr/>
        </p:nvPicPr>
        <p:blipFill rotWithShape="1">
          <a:blip r:embed="rId2"/>
          <a:srcRect l="30511" t="26818" r="32330" b="26667"/>
          <a:stretch/>
        </p:blipFill>
        <p:spPr>
          <a:xfrm>
            <a:off x="1371600" y="204832"/>
            <a:ext cx="9448800" cy="6653168"/>
          </a:xfrm>
          <a:prstGeom prst="rect">
            <a:avLst/>
          </a:prstGeom>
        </p:spPr>
      </p:pic>
    </p:spTree>
    <p:extLst>
      <p:ext uri="{BB962C8B-B14F-4D97-AF65-F5344CB8AC3E}">
        <p14:creationId xmlns:p14="http://schemas.microsoft.com/office/powerpoint/2010/main" val="1722881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ru-RU" dirty="0">
                <a:solidFill>
                  <a:srgbClr val="002060"/>
                </a:solidFill>
              </a:rPr>
              <a:t>ИСПОЛЬЗОВАНИЕ ЯЗЫКА </a:t>
            </a:r>
            <a:r>
              <a:rPr lang="en-US" cap="all" dirty="0">
                <a:solidFill>
                  <a:srgbClr val="002060"/>
                </a:solidFill>
              </a:rPr>
              <a:t>html</a:t>
            </a:r>
            <a:r>
              <a:rPr lang="en-US" dirty="0">
                <a:solidFill>
                  <a:srgbClr val="002060"/>
                </a:solidFill>
              </a:rPr>
              <a:t> </a:t>
            </a:r>
            <a:r>
              <a:rPr lang="ru-RU" dirty="0">
                <a:solidFill>
                  <a:srgbClr val="002060"/>
                </a:solidFill>
              </a:rPr>
              <a:t>ДЛЯ ОПИСАНИЯ ВЕБ-СТРАНИЦ</a:t>
            </a:r>
          </a:p>
        </p:txBody>
      </p:sp>
      <p:sp>
        <p:nvSpPr>
          <p:cNvPr id="3" name="Объект 2"/>
          <p:cNvSpPr>
            <a:spLocks noGrp="1"/>
          </p:cNvSpPr>
          <p:nvPr>
            <p:ph idx="1"/>
          </p:nvPr>
        </p:nvSpPr>
        <p:spPr>
          <a:xfrm>
            <a:off x="1484310" y="2012372"/>
            <a:ext cx="10018713" cy="3124201"/>
          </a:xfrm>
        </p:spPr>
        <p:txBody>
          <a:bodyPr/>
          <a:lstStyle/>
          <a:p>
            <a:r>
              <a:rPr lang="ru-RU" dirty="0">
                <a:solidFill>
                  <a:srgbClr val="002060"/>
                </a:solidFill>
              </a:rPr>
              <a:t>Для описания структуры веб-документа необходимо добавить немного кода к тексту, который вы хотите отобразить на экране. Ниже на странице приведен код на языке HTML. </a:t>
            </a:r>
          </a:p>
          <a:p>
            <a:r>
              <a:rPr lang="ru-RU" dirty="0">
                <a:solidFill>
                  <a:srgbClr val="002060"/>
                </a:solidFill>
              </a:rPr>
              <a:t> Обратите внимание, что НТМL-код напечатан голубым цветом, а текст, выводимый на экран, - черным.</a:t>
            </a:r>
          </a:p>
        </p:txBody>
      </p:sp>
    </p:spTree>
    <p:extLst>
      <p:ext uri="{BB962C8B-B14F-4D97-AF65-F5344CB8AC3E}">
        <p14:creationId xmlns:p14="http://schemas.microsoft.com/office/powerpoint/2010/main" val="3202700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dirty="0"/>
          </a:p>
        </p:txBody>
      </p:sp>
      <p:pic>
        <p:nvPicPr>
          <p:cNvPr id="4" name="Рисунок 3"/>
          <p:cNvPicPr>
            <a:picLocks noChangeAspect="1"/>
          </p:cNvPicPr>
          <p:nvPr/>
        </p:nvPicPr>
        <p:blipFill rotWithShape="1">
          <a:blip r:embed="rId2"/>
          <a:srcRect l="41420" t="30000" r="32330" b="31969"/>
          <a:stretch/>
        </p:blipFill>
        <p:spPr>
          <a:xfrm>
            <a:off x="2763981" y="386629"/>
            <a:ext cx="7201431" cy="5868698"/>
          </a:xfrm>
          <a:prstGeom prst="rect">
            <a:avLst/>
          </a:prstGeom>
        </p:spPr>
      </p:pic>
    </p:spTree>
    <p:extLst>
      <p:ext uri="{BB962C8B-B14F-4D97-AF65-F5344CB8AC3E}">
        <p14:creationId xmlns:p14="http://schemas.microsoft.com/office/powerpoint/2010/main" val="988059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a:xfrm>
            <a:off x="1609001" y="1762990"/>
            <a:ext cx="10018713" cy="3124201"/>
          </a:xfrm>
        </p:spPr>
        <p:txBody>
          <a:bodyPr/>
          <a:lstStyle/>
          <a:p>
            <a:r>
              <a:rPr lang="ru-RU" dirty="0">
                <a:solidFill>
                  <a:srgbClr val="002060"/>
                </a:solidFill>
              </a:rPr>
              <a:t>НТМL-код (выделен голубым цветом) состоит из символов, помещенных между двух угловых скобок. </a:t>
            </a:r>
          </a:p>
          <a:p>
            <a:r>
              <a:rPr lang="ru-RU" dirty="0">
                <a:solidFill>
                  <a:srgbClr val="002060"/>
                </a:solidFill>
              </a:rPr>
              <a:t>Все это называется НТМL-элементами. Элементы, как правило, состоят из двух </a:t>
            </a:r>
            <a:r>
              <a:rPr lang="ru-RU" dirty="0" err="1">
                <a:solidFill>
                  <a:srgbClr val="002060"/>
                </a:solidFill>
              </a:rPr>
              <a:t>теrов</a:t>
            </a:r>
            <a:r>
              <a:rPr lang="ru-RU" dirty="0">
                <a:solidFill>
                  <a:srgbClr val="002060"/>
                </a:solidFill>
              </a:rPr>
              <a:t>: открывающего и закрывающего. (Внутри закрывающего тега также имеется косая черта, иначе называемая </a:t>
            </a:r>
            <a:r>
              <a:rPr lang="ru-RU" dirty="0" err="1">
                <a:solidFill>
                  <a:srgbClr val="002060"/>
                </a:solidFill>
              </a:rPr>
              <a:t>слэш</a:t>
            </a:r>
            <a:r>
              <a:rPr lang="ru-RU" dirty="0">
                <a:solidFill>
                  <a:srgbClr val="002060"/>
                </a:solidFill>
              </a:rPr>
              <a:t>.) </a:t>
            </a:r>
          </a:p>
          <a:p>
            <a:r>
              <a:rPr lang="ru-RU" dirty="0">
                <a:solidFill>
                  <a:srgbClr val="002060"/>
                </a:solidFill>
              </a:rPr>
              <a:t>Каждый НТМL-элемент сообщает браузеру какую-либо информацию о тексте, помещенном между открывающим и закрывающим тегами.</a:t>
            </a:r>
          </a:p>
        </p:txBody>
      </p:sp>
    </p:spTree>
    <p:extLst>
      <p:ext uri="{BB962C8B-B14F-4D97-AF65-F5344CB8AC3E}">
        <p14:creationId xmlns:p14="http://schemas.microsoft.com/office/powerpoint/2010/main" val="79689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dirty="0"/>
          </a:p>
        </p:txBody>
      </p:sp>
      <p:pic>
        <p:nvPicPr>
          <p:cNvPr id="4" name="Рисунок 3"/>
          <p:cNvPicPr>
            <a:picLocks noChangeAspect="1"/>
          </p:cNvPicPr>
          <p:nvPr/>
        </p:nvPicPr>
        <p:blipFill rotWithShape="1">
          <a:blip r:embed="rId2"/>
          <a:srcRect l="30598" t="17121" r="31732" b="26818"/>
          <a:stretch/>
        </p:blipFill>
        <p:spPr>
          <a:xfrm>
            <a:off x="-1" y="156657"/>
            <a:ext cx="6265719" cy="6701343"/>
          </a:xfrm>
          <a:prstGeom prst="rect">
            <a:avLst/>
          </a:prstGeom>
        </p:spPr>
      </p:pic>
      <p:pic>
        <p:nvPicPr>
          <p:cNvPr id="5" name="Рисунок 4"/>
          <p:cNvPicPr>
            <a:picLocks noChangeAspect="1"/>
          </p:cNvPicPr>
          <p:nvPr/>
        </p:nvPicPr>
        <p:blipFill rotWithShape="1">
          <a:blip r:embed="rId3"/>
          <a:srcRect l="30682" t="27576" r="31648" b="19108"/>
          <a:stretch/>
        </p:blipFill>
        <p:spPr>
          <a:xfrm>
            <a:off x="5403271" y="489816"/>
            <a:ext cx="6650184" cy="6357793"/>
          </a:xfrm>
          <a:prstGeom prst="rect">
            <a:avLst/>
          </a:prstGeom>
        </p:spPr>
      </p:pic>
    </p:spTree>
    <p:extLst>
      <p:ext uri="{BB962C8B-B14F-4D97-AF65-F5344CB8AC3E}">
        <p14:creationId xmlns:p14="http://schemas.microsoft.com/office/powerpoint/2010/main" val="2368738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5" name="Рисунок 4"/>
          <p:cNvPicPr>
            <a:picLocks noChangeAspect="1"/>
          </p:cNvPicPr>
          <p:nvPr/>
        </p:nvPicPr>
        <p:blipFill rotWithShape="1">
          <a:blip r:embed="rId2"/>
          <a:srcRect l="30341" t="18181" r="32159" b="6667"/>
          <a:stretch/>
        </p:blipFill>
        <p:spPr>
          <a:xfrm>
            <a:off x="2805544" y="298501"/>
            <a:ext cx="5818909" cy="6559499"/>
          </a:xfrm>
          <a:prstGeom prst="rect">
            <a:avLst/>
          </a:prstGeom>
        </p:spPr>
      </p:pic>
    </p:spTree>
    <p:extLst>
      <p:ext uri="{BB962C8B-B14F-4D97-AF65-F5344CB8AC3E}">
        <p14:creationId xmlns:p14="http://schemas.microsoft.com/office/powerpoint/2010/main" val="4203680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4" name="Рисунок 3"/>
          <p:cNvPicPr>
            <a:picLocks noChangeAspect="1"/>
          </p:cNvPicPr>
          <p:nvPr/>
        </p:nvPicPr>
        <p:blipFill rotWithShape="1">
          <a:blip r:embed="rId2"/>
          <a:srcRect l="30937" t="28788" r="31903" b="16213"/>
          <a:stretch/>
        </p:blipFill>
        <p:spPr>
          <a:xfrm>
            <a:off x="2504209" y="716971"/>
            <a:ext cx="6951661" cy="5787737"/>
          </a:xfrm>
          <a:prstGeom prst="rect">
            <a:avLst/>
          </a:prstGeom>
        </p:spPr>
      </p:pic>
    </p:spTree>
    <p:extLst>
      <p:ext uri="{BB962C8B-B14F-4D97-AF65-F5344CB8AC3E}">
        <p14:creationId xmlns:p14="http://schemas.microsoft.com/office/powerpoint/2010/main" val="1752823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84311" y="342901"/>
            <a:ext cx="10018713" cy="820882"/>
          </a:xfrm>
        </p:spPr>
        <p:txBody>
          <a:bodyPr/>
          <a:lstStyle/>
          <a:p>
            <a:r>
              <a:rPr lang="ru-RU" cap="all" dirty="0"/>
              <a:t>Атрибуты</a:t>
            </a:r>
          </a:p>
        </p:txBody>
      </p:sp>
      <p:sp>
        <p:nvSpPr>
          <p:cNvPr id="3" name="Объект 2"/>
          <p:cNvSpPr>
            <a:spLocks noGrp="1"/>
          </p:cNvSpPr>
          <p:nvPr>
            <p:ph idx="1"/>
          </p:nvPr>
        </p:nvSpPr>
        <p:spPr>
          <a:xfrm>
            <a:off x="1567438" y="997526"/>
            <a:ext cx="10018713" cy="3235037"/>
          </a:xfrm>
        </p:spPr>
        <p:txBody>
          <a:bodyPr>
            <a:normAutofit fontScale="92500"/>
          </a:bodyPr>
          <a:lstStyle/>
          <a:p>
            <a:r>
              <a:rPr lang="ru-RU" dirty="0"/>
              <a:t>Атрибуты предоставляют дополнительную информацию о содержимом </a:t>
            </a:r>
            <a:r>
              <a:rPr lang="en-US" dirty="0"/>
              <a:t>HTML-</a:t>
            </a:r>
            <a:r>
              <a:rPr lang="ru-RU" dirty="0"/>
              <a:t>элементов. Они располагаются в открывающемся теге элемента и состоят из двух частей: имени и значения, разделенных знаком «равно». </a:t>
            </a:r>
          </a:p>
          <a:p>
            <a:r>
              <a:rPr lang="ru-RU" dirty="0"/>
              <a:t>Имя атрибута определяет, какого рода дополнительную информацию о содержимом элемента вы намереваетесь сообщить, в то время как значение – это собственно информация или настройка элемента, изменяемая атрибутом. </a:t>
            </a:r>
          </a:p>
          <a:p>
            <a:r>
              <a:rPr lang="ru-RU" dirty="0"/>
              <a:t>Значение следует заключить в двойные кавычки. У разных атрибутов могут быть различные значения.</a:t>
            </a:r>
          </a:p>
        </p:txBody>
      </p:sp>
      <p:pic>
        <p:nvPicPr>
          <p:cNvPr id="4" name="Рисунок 3"/>
          <p:cNvPicPr>
            <a:picLocks noChangeAspect="1"/>
          </p:cNvPicPr>
          <p:nvPr/>
        </p:nvPicPr>
        <p:blipFill rotWithShape="1">
          <a:blip r:embed="rId2"/>
          <a:srcRect l="27870" t="42728" r="29517" b="30757"/>
          <a:stretch/>
        </p:blipFill>
        <p:spPr>
          <a:xfrm>
            <a:off x="3117272" y="4232563"/>
            <a:ext cx="6759042" cy="2365664"/>
          </a:xfrm>
          <a:prstGeom prst="rect">
            <a:avLst/>
          </a:prstGeom>
        </p:spPr>
      </p:pic>
    </p:spTree>
    <p:extLst>
      <p:ext uri="{BB962C8B-B14F-4D97-AF65-F5344CB8AC3E}">
        <p14:creationId xmlns:p14="http://schemas.microsoft.com/office/powerpoint/2010/main" val="1927469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484310" y="1"/>
            <a:ext cx="10018713" cy="5791200"/>
          </a:xfrm>
        </p:spPr>
        <p:txBody>
          <a:bodyPr>
            <a:normAutofit/>
          </a:bodyPr>
          <a:lstStyle/>
          <a:p>
            <a:r>
              <a:rPr lang="ru-RU" dirty="0">
                <a:solidFill>
                  <a:srgbClr val="002060"/>
                </a:solidFill>
              </a:rPr>
              <a:t>Большинство атрибутов могут быть использованы только с определенными элементами. Несмотря на это некоторые атрибуты допускается ставить любое значение.</a:t>
            </a:r>
          </a:p>
          <a:p>
            <a:r>
              <a:rPr lang="ru-RU" dirty="0">
                <a:solidFill>
                  <a:srgbClr val="002060"/>
                </a:solidFill>
              </a:rPr>
              <a:t>Большинство значений атрибутов могут быть либо предопределенными, либо установленными в соответствии с принятыми стандартами. По мере изучения атрибутов вы узнаете и о доступных для них значениях. </a:t>
            </a:r>
          </a:p>
          <a:p>
            <a:r>
              <a:rPr lang="ru-RU" dirty="0">
                <a:solidFill>
                  <a:srgbClr val="002060"/>
                </a:solidFill>
              </a:rPr>
              <a:t>Так, значением </a:t>
            </a:r>
            <a:r>
              <a:rPr lang="en-US" dirty="0" err="1">
                <a:solidFill>
                  <a:srgbClr val="002060"/>
                </a:solidFill>
              </a:rPr>
              <a:t>lang</a:t>
            </a:r>
            <a:r>
              <a:rPr lang="en-US" dirty="0">
                <a:solidFill>
                  <a:srgbClr val="002060"/>
                </a:solidFill>
              </a:rPr>
              <a:t> </a:t>
            </a:r>
            <a:r>
              <a:rPr lang="ru-RU" dirty="0">
                <a:solidFill>
                  <a:srgbClr val="002060"/>
                </a:solidFill>
              </a:rPr>
              <a:t>может быть сокращенное обозначение языка содержимого элемента. Браузеры должны распознавать это сокращение.</a:t>
            </a:r>
          </a:p>
        </p:txBody>
      </p:sp>
    </p:spTree>
    <p:extLst>
      <p:ext uri="{BB962C8B-B14F-4D97-AF65-F5344CB8AC3E}">
        <p14:creationId xmlns:p14="http://schemas.microsoft.com/office/powerpoint/2010/main" val="3744772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84311" y="685800"/>
            <a:ext cx="10018713" cy="623455"/>
          </a:xfrm>
        </p:spPr>
        <p:txBody>
          <a:bodyPr>
            <a:normAutofit fontScale="90000"/>
          </a:bodyPr>
          <a:lstStyle/>
          <a:p>
            <a:r>
              <a:rPr lang="ru-RU" dirty="0"/>
              <a:t>ЭЛЕМЕНТЫ </a:t>
            </a:r>
            <a:r>
              <a:rPr lang="en-US" dirty="0"/>
              <a:t>BODY, HEAD </a:t>
            </a:r>
            <a:r>
              <a:rPr lang="ru-RU" dirty="0"/>
              <a:t>И </a:t>
            </a:r>
            <a:r>
              <a:rPr lang="en-US" dirty="0"/>
              <a:t>TITLE</a:t>
            </a:r>
            <a:endParaRPr lang="ru-RU" dirty="0"/>
          </a:p>
        </p:txBody>
      </p:sp>
      <p:sp>
        <p:nvSpPr>
          <p:cNvPr id="3" name="Объект 2"/>
          <p:cNvSpPr>
            <a:spLocks noGrp="1"/>
          </p:cNvSpPr>
          <p:nvPr>
            <p:ph idx="1"/>
          </p:nvPr>
        </p:nvSpPr>
        <p:spPr>
          <a:xfrm>
            <a:off x="1484310" y="1444337"/>
            <a:ext cx="10018713" cy="1350818"/>
          </a:xfrm>
        </p:spPr>
        <p:txBody>
          <a:bodyPr/>
          <a:lstStyle/>
          <a:p>
            <a:pPr marL="0" indent="0">
              <a:buNone/>
            </a:pPr>
            <a:r>
              <a:rPr lang="ru-RU" dirty="0"/>
              <a:t>С тегом &lt;</a:t>
            </a:r>
            <a:r>
              <a:rPr lang="ru-RU" dirty="0" err="1"/>
              <a:t>body</a:t>
            </a:r>
            <a:r>
              <a:rPr lang="ru-RU" dirty="0"/>
              <a:t>&gt;* вы уже встречались в первом примере. Все, помещаемое внутрь этого элемента, отображается в основном окне браузера. </a:t>
            </a:r>
          </a:p>
        </p:txBody>
      </p:sp>
      <p:pic>
        <p:nvPicPr>
          <p:cNvPr id="7" name="Рисунок 6"/>
          <p:cNvPicPr>
            <a:picLocks noChangeAspect="1"/>
          </p:cNvPicPr>
          <p:nvPr/>
        </p:nvPicPr>
        <p:blipFill rotWithShape="1">
          <a:blip r:embed="rId2"/>
          <a:srcRect l="42017" t="25152" r="27812" b="45757"/>
          <a:stretch/>
        </p:blipFill>
        <p:spPr>
          <a:xfrm>
            <a:off x="2348346" y="2597726"/>
            <a:ext cx="7460672" cy="4046467"/>
          </a:xfrm>
          <a:prstGeom prst="rect">
            <a:avLst/>
          </a:prstGeom>
        </p:spPr>
      </p:pic>
    </p:spTree>
    <p:extLst>
      <p:ext uri="{BB962C8B-B14F-4D97-AF65-F5344CB8AC3E}">
        <p14:creationId xmlns:p14="http://schemas.microsoft.com/office/powerpoint/2010/main" val="2922617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02421" y="571501"/>
            <a:ext cx="10018713" cy="665018"/>
          </a:xfrm>
        </p:spPr>
        <p:txBody>
          <a:bodyPr>
            <a:normAutofit fontScale="90000"/>
          </a:bodyPr>
          <a:lstStyle/>
          <a:p>
            <a:r>
              <a:rPr lang="ru-RU" cap="all" dirty="0"/>
              <a:t>&lt;</a:t>
            </a:r>
            <a:r>
              <a:rPr lang="ru-RU" cap="all" dirty="0" err="1"/>
              <a:t>head</a:t>
            </a:r>
            <a:r>
              <a:rPr lang="ru-RU" cap="all" dirty="0"/>
              <a:t>&gt;</a:t>
            </a:r>
            <a:br>
              <a:rPr lang="ru-RU" cap="all" dirty="0"/>
            </a:br>
            <a:endParaRPr lang="ru-RU" cap="all" dirty="0"/>
          </a:p>
        </p:txBody>
      </p:sp>
      <p:sp>
        <p:nvSpPr>
          <p:cNvPr id="3" name="Объект 2"/>
          <p:cNvSpPr>
            <a:spLocks noGrp="1"/>
          </p:cNvSpPr>
          <p:nvPr>
            <p:ph idx="1"/>
          </p:nvPr>
        </p:nvSpPr>
        <p:spPr>
          <a:xfrm>
            <a:off x="1484311" y="1039092"/>
            <a:ext cx="10018713" cy="2306782"/>
          </a:xfrm>
        </p:spPr>
        <p:txBody>
          <a:bodyPr>
            <a:normAutofit/>
          </a:bodyPr>
          <a:lstStyle/>
          <a:p>
            <a:r>
              <a:rPr lang="ru-RU" dirty="0"/>
              <a:t>Вам часто придется видеть элемент &lt;</a:t>
            </a:r>
            <a:r>
              <a:rPr lang="ru-RU" dirty="0" err="1"/>
              <a:t>head</a:t>
            </a:r>
            <a:r>
              <a:rPr lang="ru-RU" dirty="0"/>
              <a:t>&gt;* *, предшествующий элементу &lt;</a:t>
            </a:r>
            <a:r>
              <a:rPr lang="ru-RU" dirty="0" err="1"/>
              <a:t>body</a:t>
            </a:r>
            <a:r>
              <a:rPr lang="ru-RU" dirty="0"/>
              <a:t>&gt;. Он содержит информацию о самой странице, а не ту, которая будет выведена в основную часть окна браузера (выделенную голубым цветом на следующей странице).</a:t>
            </a:r>
          </a:p>
          <a:p>
            <a:r>
              <a:rPr lang="ru-RU" dirty="0"/>
              <a:t>В элемент &lt;</a:t>
            </a:r>
            <a:r>
              <a:rPr lang="ru-RU" dirty="0" err="1"/>
              <a:t>head</a:t>
            </a:r>
            <a:r>
              <a:rPr lang="ru-RU" dirty="0"/>
              <a:t>&gt; также часто включается элемент &lt;</a:t>
            </a:r>
            <a:r>
              <a:rPr lang="ru-RU" dirty="0" err="1"/>
              <a:t>title</a:t>
            </a:r>
            <a:r>
              <a:rPr lang="ru-RU" dirty="0"/>
              <a:t>&gt;. </a:t>
            </a:r>
          </a:p>
        </p:txBody>
      </p:sp>
    </p:spTree>
    <p:extLst>
      <p:ext uri="{BB962C8B-B14F-4D97-AF65-F5344CB8AC3E}">
        <p14:creationId xmlns:p14="http://schemas.microsoft.com/office/powerpoint/2010/main" val="15093652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cap="all" dirty="0"/>
              <a:t>&lt;</a:t>
            </a:r>
            <a:r>
              <a:rPr lang="ru-RU" cap="all" dirty="0" err="1"/>
              <a:t>title</a:t>
            </a:r>
            <a:r>
              <a:rPr lang="ru-RU" cap="all" dirty="0"/>
              <a:t>&gt;</a:t>
            </a:r>
            <a:br>
              <a:rPr lang="ru-RU" dirty="0"/>
            </a:br>
            <a:endParaRPr lang="ru-RU" dirty="0"/>
          </a:p>
        </p:txBody>
      </p:sp>
      <p:sp>
        <p:nvSpPr>
          <p:cNvPr id="3" name="Объект 2"/>
          <p:cNvSpPr>
            <a:spLocks noGrp="1"/>
          </p:cNvSpPr>
          <p:nvPr>
            <p:ph idx="1"/>
          </p:nvPr>
        </p:nvSpPr>
        <p:spPr>
          <a:xfrm>
            <a:off x="1660956" y="1787237"/>
            <a:ext cx="10018713" cy="2143991"/>
          </a:xfrm>
        </p:spPr>
        <p:txBody>
          <a:bodyPr>
            <a:normAutofit/>
          </a:bodyPr>
          <a:lstStyle/>
          <a:p>
            <a:r>
              <a:rPr lang="ru-RU" dirty="0"/>
              <a:t>Содержимое элемента &lt;</a:t>
            </a:r>
            <a:r>
              <a:rPr lang="ru-RU" dirty="0" err="1"/>
              <a:t>title</a:t>
            </a:r>
            <a:r>
              <a:rPr lang="ru-RU" dirty="0"/>
              <a:t>&gt;*- выводится либо в заголовке окна браузера (выше текстового поля, в которое вы обычно вводите адрес сайта), либо в качестве названия вкладки страницы (если ваш браузер использует вкладки). </a:t>
            </a:r>
          </a:p>
        </p:txBody>
      </p:sp>
    </p:spTree>
    <p:extLst>
      <p:ext uri="{BB962C8B-B14F-4D97-AF65-F5344CB8AC3E}">
        <p14:creationId xmlns:p14="http://schemas.microsoft.com/office/powerpoint/2010/main" val="1736168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484310" y="966355"/>
            <a:ext cx="10018713" cy="4824845"/>
          </a:xfrm>
        </p:spPr>
        <p:txBody>
          <a:bodyPr>
            <a:normAutofit fontScale="92500"/>
          </a:bodyPr>
          <a:lstStyle/>
          <a:p>
            <a:r>
              <a:rPr lang="ru-RU" dirty="0"/>
              <a:t>Возможно, вы уже знаете, что аббревиатура HTML расшифровывается как </a:t>
            </a:r>
            <a:r>
              <a:rPr lang="ru-RU" dirty="0" err="1"/>
              <a:t>HyperText</a:t>
            </a:r>
            <a:r>
              <a:rPr lang="ru-RU" dirty="0"/>
              <a:t> </a:t>
            </a:r>
            <a:r>
              <a:rPr lang="ru-RU" dirty="0" err="1"/>
              <a:t>Markup</a:t>
            </a:r>
            <a:r>
              <a:rPr lang="ru-RU" dirty="0"/>
              <a:t> </a:t>
            </a:r>
            <a:r>
              <a:rPr lang="ru-RU" dirty="0" err="1"/>
              <a:t>Language</a:t>
            </a:r>
            <a:r>
              <a:rPr lang="ru-RU" dirty="0"/>
              <a:t> - язык разметки гипертекста. </a:t>
            </a:r>
          </a:p>
          <a:p>
            <a:r>
              <a:rPr lang="ru-RU" dirty="0"/>
              <a:t>В данном случае слово «гипертекст» означает, что с помощью языка HTML вы можете создавать ссылки, позволяющие Весь текст, находящийся между тегов, ВЫВОДИТСЯ в заголовок окна браузера или вкладки страницы (на рисунке выделен оранжевым цветом) посетителям быстро и легко перемещаться с одной страницы на другую. </a:t>
            </a:r>
          </a:p>
          <a:p>
            <a:r>
              <a:rPr lang="ru-RU" dirty="0"/>
              <a:t>Язык разметки позволяет вам создать примечания к тексту, а эти примечания, в свою очередь, придают дополнительное значение содержимому документа. Представьте себе веб-страницу: к исходному тексту, который вы хотите отобразить в окне браузера, вы добавляете какой-либо код, используемый браузером для корректного отображения страницы. Поэтому теги, добавляемые вами, называются «элементами разметки». </a:t>
            </a:r>
          </a:p>
        </p:txBody>
      </p:sp>
    </p:spTree>
    <p:extLst>
      <p:ext uri="{BB962C8B-B14F-4D97-AF65-F5344CB8AC3E}">
        <p14:creationId xmlns:p14="http://schemas.microsoft.com/office/powerpoint/2010/main" val="23820151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Параллакс">
  <a:themeElements>
    <a:clrScheme name="Параллакс">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Параллакс">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Параллакс">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TM03457496[[fn=Параллакс]]</Template>
  <TotalTime>108</TotalTime>
  <Words>1701</Words>
  <Application>Microsoft Office PowerPoint</Application>
  <PresentationFormat>Широкоэкранный</PresentationFormat>
  <Paragraphs>65</Paragraphs>
  <Slides>28</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28</vt:i4>
      </vt:variant>
    </vt:vector>
  </HeadingPairs>
  <TitlesOfParts>
    <vt:vector size="31" baseType="lpstr">
      <vt:lpstr>Arial</vt:lpstr>
      <vt:lpstr>Corbel</vt:lpstr>
      <vt:lpstr>Параллакс</vt:lpstr>
      <vt:lpstr>Веб-дизайн</vt:lpstr>
      <vt:lpstr>Как люди получают доступ к всемирной паутине</vt:lpstr>
      <vt:lpstr>Как люди получают доступ к всемирной паутине</vt:lpstr>
      <vt:lpstr>Как люди получают доступ к всемирной паутине</vt:lpstr>
      <vt:lpstr>Как люди получают доступ к всемирной паутине</vt:lpstr>
      <vt:lpstr>КАК СОЗДАЮТСЯ САЙТЫ</vt:lpstr>
      <vt:lpstr>КАК СОЗДАЮТСЯ САЙТЫ</vt:lpstr>
      <vt:lpstr>Презентация PowerPoint</vt:lpstr>
      <vt:lpstr>Презентация PowerPoint</vt:lpstr>
      <vt:lpstr>СТРУКТУРА</vt:lpstr>
      <vt:lpstr>Презентация PowerPoint</vt:lpstr>
      <vt:lpstr>Презентация PowerPoint</vt:lpstr>
      <vt:lpstr>ПРИМЕРЬI СТРУКТУРИЗАЦИИ СТРАНИЦ</vt:lpstr>
      <vt:lpstr>Презентация PowerPoint</vt:lpstr>
      <vt:lpstr>СТРУКТУРИРОВАНИЕ ДОКУМЕНТОВ MICROSOFT WORD </vt:lpstr>
      <vt:lpstr>Презентация PowerPoint</vt:lpstr>
      <vt:lpstr>ИСПОЛЬЗОВАНИЕ ЯЗЫКА html ДЛЯ ОПИСАНИЯ ВЕБ-СТРАНИЦ</vt:lpstr>
      <vt:lpstr>Презентация PowerPoint</vt:lpstr>
      <vt:lpstr>Презентация PowerPoint</vt:lpstr>
      <vt:lpstr>Презентация PowerPoint</vt:lpstr>
      <vt:lpstr>Презентация PowerPoint</vt:lpstr>
      <vt:lpstr>Презентация PowerPoint</vt:lpstr>
      <vt:lpstr>Атрибуты</vt:lpstr>
      <vt:lpstr>Презентация PowerPoint</vt:lpstr>
      <vt:lpstr>ЭЛЕМЕНТЫ BODY, HEAD И TITLE</vt:lpstr>
      <vt:lpstr>&lt;head&gt; </vt:lpstr>
      <vt:lpstr>&lt;title&gt; </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Веб-дизайн. Введение</dc:title>
  <dc:creator>239-0</dc:creator>
  <cp:lastModifiedBy>431-0</cp:lastModifiedBy>
  <cp:revision>13</cp:revision>
  <dcterms:created xsi:type="dcterms:W3CDTF">2021-01-28T11:09:29Z</dcterms:created>
  <dcterms:modified xsi:type="dcterms:W3CDTF">2021-02-08T11:49:36Z</dcterms:modified>
</cp:coreProperties>
</file>